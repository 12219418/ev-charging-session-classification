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8" r:id="rId10"/>
    <p:sldMasterId id="2147483670" r:id="rId11"/>
    <p:sldMasterId id="2147483672" r:id="rId12"/>
    <p:sldMasterId id="2147483674" r:id="rId13"/>
    <p:sldMasterId id="2147483676" r:id="rId14"/>
    <p:sldMasterId id="2147483678" r:id="rId15"/>
    <p:sldMasterId id="2147483680" r:id="rId16"/>
    <p:sldMasterId id="2147483682" r:id="rId17"/>
    <p:sldMasterId id="2147483684" r:id="rId18"/>
    <p:sldMasterId id="2147483686" r:id="rId19"/>
    <p:sldMasterId id="2147483688" r:id="rId20"/>
  </p:sldMasterIdLst>
  <p:sldIdLst>
    <p:sldId id="256" r:id="rId21"/>
    <p:sldId id="257" r:id="rId22"/>
    <p:sldId id="258" r:id="rId23"/>
    <p:sldId id="259" r:id="rId24"/>
    <p:sldId id="260" r:id="rId25"/>
    <p:sldId id="261" r:id="rId26"/>
    <p:sldId id="262" r:id="rId27"/>
    <p:sldId id="263" r:id="rId28"/>
    <p:sldId id="264" r:id="rId29"/>
    <p:sldId id="269" r:id="rId30"/>
    <p:sldId id="267" r:id="rId31"/>
    <p:sldId id="268" r:id="rId32"/>
    <p:sldId id="266" r:id="rId3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6.xml"/><Relationship Id="rId21" Type="http://schemas.openxmlformats.org/officeDocument/2006/relationships/slide" Target="slides/slide1.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33"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4.xml"/><Relationship Id="rId32" Type="http://schemas.openxmlformats.org/officeDocument/2006/relationships/slide" Target="slides/slide12.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slide" Target="slides/slide8.xml"/><Relationship Id="rId36"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slide" Target="slides/slide10.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PlaceHolder 1"/>
          <p:cNvSpPr>
            <a:spLocks noGrp="1"/>
          </p:cNvSpPr>
          <p:nvPr>
            <p:ph type="title"/>
          </p:nvPr>
        </p:nvSpPr>
        <p:spPr>
          <a:xfrm>
            <a:off x="444600" y="238320"/>
            <a:ext cx="54997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4_2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_2_1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HEADER_2">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3">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2">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41" name="PlaceHolder 1"/>
          <p:cNvSpPr>
            <a:spLocks noGrp="1"/>
          </p:cNvSpPr>
          <p:nvPr>
            <p:ph type="title"/>
          </p:nvPr>
        </p:nvSpPr>
        <p:spPr>
          <a:xfrm>
            <a:off x="444600" y="238320"/>
            <a:ext cx="54997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2"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44" name="PlaceHolder 1"/>
          <p:cNvSpPr>
            <a:spLocks noGrp="1"/>
          </p:cNvSpPr>
          <p:nvPr>
            <p:ph type="title"/>
          </p:nvPr>
        </p:nvSpPr>
        <p:spPr>
          <a:xfrm>
            <a:off x="444600" y="238320"/>
            <a:ext cx="54997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5"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46"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49" name="PlaceHolder 1"/>
          <p:cNvSpPr>
            <a:spLocks noGrp="1"/>
          </p:cNvSpPr>
          <p:nvPr>
            <p:ph type="title"/>
          </p:nvPr>
        </p:nvSpPr>
        <p:spPr>
          <a:xfrm>
            <a:off x="444600" y="238320"/>
            <a:ext cx="54997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2_1">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2_1_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 name="Google Shape;9;p2"/>
          <p:cNvPicPr/>
          <p:nvPr/>
        </p:nvPicPr>
        <p:blipFill>
          <a:blip r:embed="rId3"/>
          <a:srcRect b="15594"/>
          <a:stretch/>
        </p:blipFill>
        <p:spPr>
          <a:xfrm>
            <a:off x="0" y="0"/>
            <a:ext cx="9143640" cy="5143320"/>
          </a:xfrm>
          <a:prstGeom prst="rect">
            <a:avLst/>
          </a:prstGeom>
          <a:ln w="0">
            <a:noFill/>
          </a:ln>
        </p:spPr>
      </p:pic>
      <p:sp>
        <p:nvSpPr>
          <p:cNvPr id="5" name="Google Shape;10;p2"/>
          <p:cNvSpPr/>
          <p:nvPr/>
        </p:nvSpPr>
        <p:spPr>
          <a:xfrm>
            <a:off x="243360" y="259560"/>
            <a:ext cx="8656920" cy="462420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 name="PlaceHolder 1"/>
          <p:cNvSpPr>
            <a:spLocks noGrp="1"/>
          </p:cNvSpPr>
          <p:nvPr>
            <p:ph type="title"/>
          </p:nvPr>
        </p:nvSpPr>
        <p:spPr>
          <a:xfrm>
            <a:off x="470520" y="828000"/>
            <a:ext cx="8115840" cy="1373760"/>
          </a:xfrm>
          <a:prstGeom prst="rect">
            <a:avLst/>
          </a:prstGeom>
          <a:noFill/>
          <a:ln w="0">
            <a:noFill/>
          </a:ln>
        </p:spPr>
        <p:txBody>
          <a:bodyPr lIns="91440" tIns="91440" rIns="91440" bIns="91440" anchor="t">
            <a:noAutofit/>
          </a:bodyPr>
          <a:lstStyle/>
          <a:p>
            <a:pPr indent="0">
              <a:buNone/>
            </a:pPr>
            <a:r>
              <a:rPr lang="fr-FR" sz="3800" b="0" strike="noStrike" spc="-1">
                <a:solidFill>
                  <a:schemeClr val="dk1"/>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284120" y="1349640"/>
            <a:ext cx="6575760" cy="1378440"/>
          </a:xfrm>
          <a:prstGeom prst="rect">
            <a:avLst/>
          </a:prstGeom>
          <a:noFill/>
          <a:ln w="0">
            <a:noFill/>
          </a:ln>
        </p:spPr>
        <p:txBody>
          <a:bodyPr lIns="91440" tIns="91440" rIns="91440" bIns="91440" anchor="b">
            <a:noAutofit/>
          </a:bodyPr>
          <a:lstStyle/>
          <a:p>
            <a:pPr indent="0" algn="ctr">
              <a:lnSpc>
                <a:spcPct val="100000"/>
              </a:lnSpc>
              <a:buNone/>
            </a:pPr>
            <a:r>
              <a:rPr lang="fr-FR" sz="6000" b="0" strike="noStrike" spc="-1">
                <a:solidFill>
                  <a:schemeClr val="dk1"/>
                </a:solidFill>
                <a:latin typeface="Funnel Display"/>
                <a:ea typeface="Funnel Display"/>
              </a:rPr>
              <a:t>xx%</a:t>
            </a:r>
            <a:endParaRPr lang="fr-FR" sz="6000" b="0" strike="noStrike" spc="-1">
              <a:solidFill>
                <a:schemeClr val="dk1"/>
              </a:solidFill>
              <a:latin typeface="Arial"/>
            </a:endParaRPr>
          </a:p>
        </p:txBody>
      </p:sp>
      <p:cxnSp>
        <p:nvCxnSpPr>
          <p:cNvPr id="7" name="Google Shape;49;p11"/>
          <p:cNvCxnSpPr/>
          <p:nvPr/>
        </p:nvCxnSpPr>
        <p:spPr>
          <a:xfrm>
            <a:off x="218520" y="272520"/>
            <a:ext cx="8706960" cy="360"/>
          </a:xfrm>
          <a:prstGeom prst="straightConnector1">
            <a:avLst/>
          </a:prstGeom>
          <a:ln w="9525">
            <a:solidFill>
              <a:srgbClr val="191919"/>
            </a:solidFill>
            <a:round/>
          </a:ln>
        </p:spPr>
      </p:cxnSp>
      <p:cxnSp>
        <p:nvCxnSpPr>
          <p:cNvPr id="8" name="Google Shape;50;p11"/>
          <p:cNvCxnSpPr/>
          <p:nvPr/>
        </p:nvCxnSpPr>
        <p:spPr>
          <a:xfrm>
            <a:off x="218520" y="4870800"/>
            <a:ext cx="8706960" cy="360"/>
          </a:xfrm>
          <a:prstGeom prst="straightConnector1">
            <a:avLst/>
          </a:prstGeom>
          <a:ln w="9525">
            <a:solidFill>
              <a:srgbClr val="191919"/>
            </a:solidFill>
            <a:round/>
          </a:ln>
        </p:spPr>
      </p:cxn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9" name="Google Shape;53;p13"/>
          <p:cNvPicPr/>
          <p:nvPr/>
        </p:nvPicPr>
        <p:blipFill>
          <a:blip r:embed="rId3"/>
          <a:srcRect b="15418"/>
          <a:stretch/>
        </p:blipFill>
        <p:spPr>
          <a:xfrm>
            <a:off x="0" y="0"/>
            <a:ext cx="9143640" cy="5143320"/>
          </a:xfrm>
          <a:prstGeom prst="rect">
            <a:avLst/>
          </a:prstGeom>
          <a:ln w="0">
            <a:noFill/>
          </a:ln>
        </p:spPr>
      </p:pic>
      <p:sp>
        <p:nvSpPr>
          <p:cNvPr id="10" name="Google Shape;54;p13"/>
          <p:cNvSpPr/>
          <p:nvPr/>
        </p:nvSpPr>
        <p:spPr>
          <a:xfrm>
            <a:off x="243360" y="259560"/>
            <a:ext cx="8656920" cy="462420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1" name="PlaceHolder 1"/>
          <p:cNvSpPr>
            <a:spLocks noGrp="1"/>
          </p:cNvSpPr>
          <p:nvPr>
            <p:ph type="title"/>
          </p:nvPr>
        </p:nvSpPr>
        <p:spPr>
          <a:xfrm>
            <a:off x="571320" y="521280"/>
            <a:ext cx="8000640" cy="573120"/>
          </a:xfrm>
          <a:prstGeom prst="rect">
            <a:avLst/>
          </a:prstGeom>
          <a:noFill/>
          <a:ln w="0">
            <a:noFill/>
          </a:ln>
        </p:spPr>
        <p:txBody>
          <a:bodyPr lIns="91440" tIns="91440" rIns="91440" bIns="91440" anchor="t">
            <a:noAutofit/>
          </a:bodyPr>
          <a:lstStyle/>
          <a:p>
            <a:pPr indent="0">
              <a:buNone/>
            </a:pPr>
            <a:r>
              <a:rPr lang="fr-FR" sz="2500" b="0" strike="noStrike" spc="-1">
                <a:solidFill>
                  <a:schemeClr val="dk1"/>
                </a:solidFill>
                <a:latin typeface="Arial"/>
              </a:rPr>
              <a:t>Click to edit the title text format</a:t>
            </a:r>
          </a:p>
        </p:txBody>
      </p:sp>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3483720" y="238320"/>
            <a:ext cx="4644000" cy="1139400"/>
          </a:xfrm>
          <a:prstGeom prst="rect">
            <a:avLst/>
          </a:prstGeom>
          <a:noFill/>
          <a:ln w="0">
            <a:noFill/>
          </a:ln>
        </p:spPr>
        <p:txBody>
          <a:bodyPr lIns="91440" tIns="91440" rIns="91440" bIns="91440" anchor="b">
            <a:noAutofit/>
          </a:bodyPr>
          <a:lstStyle/>
          <a:p>
            <a:pPr indent="0">
              <a:buNone/>
            </a:pPr>
            <a:r>
              <a:rPr lang="fr-FR" sz="2500" b="0" strike="noStrike" spc="-1">
                <a:solidFill>
                  <a:schemeClr val="dk1"/>
                </a:solidFill>
                <a:latin typeface="Arial"/>
              </a:rPr>
              <a:t>Click to edit the title text format</a:t>
            </a:r>
          </a:p>
        </p:txBody>
      </p:sp>
      <p:sp>
        <p:nvSpPr>
          <p:cNvPr id="14" name="PlaceHolder 2"/>
          <p:cNvSpPr>
            <a:spLocks noGrp="1"/>
          </p:cNvSpPr>
          <p:nvPr>
            <p:ph type="body"/>
          </p:nvPr>
        </p:nvSpPr>
        <p:spPr>
          <a:xfrm>
            <a:off x="228600" y="233280"/>
            <a:ext cx="3008520" cy="4676400"/>
          </a:xfrm>
          <a:prstGeom prst="rect">
            <a:avLst/>
          </a:prstGeom>
          <a:noFill/>
          <a:ln w="0">
            <a:noFill/>
          </a:ln>
        </p:spPr>
        <p:txBody>
          <a:bodyPr lIns="90000" tIns="45000" rIns="90000" bIns="45000" anchor="t">
            <a:normAutofit fontScale="62222"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508680" y="3163320"/>
            <a:ext cx="4383360" cy="1519560"/>
          </a:xfrm>
          <a:prstGeom prst="rect">
            <a:avLst/>
          </a:prstGeom>
          <a:noFill/>
          <a:ln w="0">
            <a:noFill/>
          </a:ln>
        </p:spPr>
        <p:txBody>
          <a:bodyPr lIns="91440" tIns="91440" rIns="91440" bIns="91440" anchor="t">
            <a:noAutofit/>
          </a:bodyPr>
          <a:lstStyle/>
          <a:p>
            <a:pPr indent="0">
              <a:buNone/>
            </a:pPr>
            <a:r>
              <a:rPr lang="fr-FR" sz="4500" b="0" strike="noStrike" spc="-1">
                <a:solidFill>
                  <a:schemeClr val="dk1"/>
                </a:solidFill>
                <a:latin typeface="Arial"/>
              </a:rPr>
              <a:t>Click to edit the title text format</a:t>
            </a:r>
          </a:p>
        </p:txBody>
      </p:sp>
      <p:sp>
        <p:nvSpPr>
          <p:cNvPr id="16" name="PlaceHolder 2"/>
          <p:cNvSpPr>
            <a:spLocks noGrp="1"/>
          </p:cNvSpPr>
          <p:nvPr>
            <p:ph type="title"/>
          </p:nvPr>
        </p:nvSpPr>
        <p:spPr>
          <a:xfrm>
            <a:off x="437760" y="460440"/>
            <a:ext cx="1332360" cy="678600"/>
          </a:xfrm>
          <a:prstGeom prst="rect">
            <a:avLst/>
          </a:prstGeom>
          <a:noFill/>
          <a:ln w="0">
            <a:noFill/>
          </a:ln>
        </p:spPr>
        <p:txBody>
          <a:bodyPr lIns="91440" tIns="91440" rIns="91440" bIns="91440" anchor="b">
            <a:noAutofit/>
          </a:bodyPr>
          <a:lstStyle/>
          <a:p>
            <a:pPr indent="0">
              <a:lnSpc>
                <a:spcPct val="100000"/>
              </a:lnSpc>
              <a:buNone/>
            </a:pPr>
            <a:r>
              <a:rPr lang="fr-FR" sz="4200" b="0" strike="noStrike" spc="-1">
                <a:solidFill>
                  <a:schemeClr val="dk1"/>
                </a:solidFill>
                <a:latin typeface="Funnel Display"/>
                <a:ea typeface="Funnel Display"/>
              </a:rPr>
              <a:t>xx%</a:t>
            </a:r>
            <a:endParaRPr lang="fr-FR" sz="4200" b="0" strike="noStrike" spc="-1">
              <a:solidFill>
                <a:schemeClr val="dk1"/>
              </a:solidFill>
              <a:latin typeface="Arial"/>
            </a:endParaRPr>
          </a:p>
        </p:txBody>
      </p:sp>
      <p:sp>
        <p:nvSpPr>
          <p:cNvPr id="17" name="PlaceHolder 3"/>
          <p:cNvSpPr>
            <a:spLocks noGrp="1"/>
          </p:cNvSpPr>
          <p:nvPr>
            <p:ph type="body"/>
          </p:nvPr>
        </p:nvSpPr>
        <p:spPr>
          <a:xfrm>
            <a:off x="6213960" y="151920"/>
            <a:ext cx="2760120" cy="4839480"/>
          </a:xfrm>
          <a:prstGeom prst="rect">
            <a:avLst/>
          </a:prstGeom>
          <a:noFill/>
          <a:ln w="0">
            <a:noFill/>
          </a:ln>
        </p:spPr>
        <p:txBody>
          <a:bodyPr lIns="90000" tIns="45000" rIns="90000" bIns="45000" anchor="t">
            <a:normAutofit fontScale="43333"/>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5229000" y="2268720"/>
            <a:ext cx="3334680" cy="605520"/>
          </a:xfrm>
          <a:prstGeom prst="rect">
            <a:avLst/>
          </a:prstGeom>
          <a:noFill/>
          <a:ln w="0">
            <a:noFill/>
          </a:ln>
        </p:spPr>
        <p:txBody>
          <a:bodyPr lIns="91440" tIns="91440" rIns="91440" bIns="91440" anchor="t">
            <a:noAutofit/>
          </a:bodyPr>
          <a:lstStyle/>
          <a:p>
            <a:pPr indent="0">
              <a:buNone/>
            </a:pPr>
            <a:r>
              <a:rPr lang="fr-FR" sz="2500" b="0" strike="noStrike" spc="-1">
                <a:solidFill>
                  <a:schemeClr val="dk1"/>
                </a:solidFill>
                <a:latin typeface="Arial"/>
              </a:rPr>
              <a:t>Click to edit the title text format</a:t>
            </a:r>
          </a:p>
        </p:txBody>
      </p:sp>
      <p:sp>
        <p:nvSpPr>
          <p:cNvPr id="19" name="PlaceHolder 2"/>
          <p:cNvSpPr>
            <a:spLocks noGrp="1"/>
          </p:cNvSpPr>
          <p:nvPr>
            <p:ph type="body"/>
          </p:nvPr>
        </p:nvSpPr>
        <p:spPr>
          <a:xfrm>
            <a:off x="1734120" y="0"/>
            <a:ext cx="3203640" cy="2612160"/>
          </a:xfrm>
          <a:prstGeom prst="rect">
            <a:avLst/>
          </a:prstGeom>
          <a:noFill/>
          <a:ln w="0">
            <a:noFill/>
          </a:ln>
        </p:spPr>
        <p:txBody>
          <a:bodyPr lIns="90000" tIns="45000" rIns="90000" bIns="45000" anchor="t">
            <a:normAutofit fontScale="37222"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0" name="PlaceHolder 3"/>
          <p:cNvSpPr>
            <a:spLocks noGrp="1"/>
          </p:cNvSpPr>
          <p:nvPr>
            <p:ph type="body"/>
          </p:nvPr>
        </p:nvSpPr>
        <p:spPr>
          <a:xfrm>
            <a:off x="0" y="0"/>
            <a:ext cx="1683720" cy="2612160"/>
          </a:xfrm>
          <a:prstGeom prst="rect">
            <a:avLst/>
          </a:prstGeom>
          <a:noFill/>
          <a:ln w="0">
            <a:noFill/>
          </a:ln>
        </p:spPr>
        <p:txBody>
          <a:bodyPr lIns="90000" tIns="45000" rIns="90000" bIns="45000" anchor="t">
            <a:normAutofit fontScale="12222"/>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1" name="PlaceHolder 4"/>
          <p:cNvSpPr>
            <a:spLocks noGrp="1"/>
          </p:cNvSpPr>
          <p:nvPr>
            <p:ph type="body"/>
          </p:nvPr>
        </p:nvSpPr>
        <p:spPr>
          <a:xfrm>
            <a:off x="0" y="2664000"/>
            <a:ext cx="3287520" cy="2479320"/>
          </a:xfrm>
          <a:prstGeom prst="rect">
            <a:avLst/>
          </a:prstGeom>
          <a:noFill/>
          <a:ln w="0">
            <a:noFill/>
          </a:ln>
        </p:spPr>
        <p:txBody>
          <a:bodyPr lIns="90000" tIns="45000" rIns="90000" bIns="45000" anchor="t">
            <a:normAutofit fontScale="5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2" name="PlaceHolder 5"/>
          <p:cNvSpPr>
            <a:spLocks noGrp="1"/>
          </p:cNvSpPr>
          <p:nvPr>
            <p:ph type="body"/>
          </p:nvPr>
        </p:nvSpPr>
        <p:spPr>
          <a:xfrm>
            <a:off x="3336120" y="2664000"/>
            <a:ext cx="1606680" cy="2479320"/>
          </a:xfrm>
          <a:prstGeom prst="rect">
            <a:avLst/>
          </a:prstGeom>
          <a:noFill/>
          <a:ln w="0">
            <a:noFill/>
          </a:ln>
        </p:spPr>
        <p:txBody>
          <a:bodyPr lIns="90000" tIns="45000" rIns="90000" bIns="45000" anchor="t">
            <a:normAutofit fontScale="12222"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cxnSp>
        <p:nvCxnSpPr>
          <p:cNvPr id="23" name="Google Shape;71;p16"/>
          <p:cNvCxnSpPr/>
          <p:nvPr/>
        </p:nvCxnSpPr>
        <p:spPr>
          <a:xfrm>
            <a:off x="8915400" y="357840"/>
            <a:ext cx="360" cy="4428000"/>
          </a:xfrm>
          <a:prstGeom prst="straightConnector1">
            <a:avLst/>
          </a:prstGeom>
          <a:ln w="9525">
            <a:solidFill>
              <a:srgbClr val="191919"/>
            </a:solidFill>
            <a:round/>
          </a:ln>
        </p:spPr>
      </p:cxn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 name="PlaceHolder 1"/>
          <p:cNvSpPr>
            <a:spLocks noGrp="1"/>
          </p:cNvSpPr>
          <p:nvPr>
            <p:ph type="body"/>
          </p:nvPr>
        </p:nvSpPr>
        <p:spPr>
          <a:xfrm>
            <a:off x="-6840" y="-360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5" name="PlaceHolder 2"/>
          <p:cNvSpPr>
            <a:spLocks noGrp="1"/>
          </p:cNvSpPr>
          <p:nvPr>
            <p:ph type="title"/>
          </p:nvPr>
        </p:nvSpPr>
        <p:spPr>
          <a:xfrm>
            <a:off x="-7920" y="4055760"/>
            <a:ext cx="3564720" cy="411840"/>
          </a:xfrm>
          <a:prstGeom prst="rect">
            <a:avLst/>
          </a:prstGeom>
          <a:solidFill>
            <a:schemeClr val="lt1"/>
          </a:solidFill>
          <a:ln w="0">
            <a:noFill/>
          </a:ln>
        </p:spPr>
        <p:txBody>
          <a:bodyPr lIns="91440" tIns="91440" rIns="91440" bIns="91440" anchor="ctr">
            <a:noAutofit/>
          </a:bodyPr>
          <a:lstStyle/>
          <a:p>
            <a:pPr indent="0">
              <a:buNone/>
            </a:pPr>
            <a:r>
              <a:rPr lang="fr-FR" sz="18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6" name="Google Shape;76;p18"/>
          <p:cNvPicPr/>
          <p:nvPr/>
        </p:nvPicPr>
        <p:blipFill>
          <a:blip r:embed="rId3"/>
          <a:srcRect t="7797" b="7805"/>
          <a:stretch/>
        </p:blipFill>
        <p:spPr>
          <a:xfrm>
            <a:off x="0" y="0"/>
            <a:ext cx="9143640" cy="5143320"/>
          </a:xfrm>
          <a:prstGeom prst="rect">
            <a:avLst/>
          </a:prstGeom>
          <a:ln w="0">
            <a:noFill/>
          </a:ln>
        </p:spPr>
      </p:pic>
      <p:sp>
        <p:nvSpPr>
          <p:cNvPr id="27" name="Google Shape;77;p18"/>
          <p:cNvSpPr/>
          <p:nvPr/>
        </p:nvSpPr>
        <p:spPr>
          <a:xfrm>
            <a:off x="243360" y="259560"/>
            <a:ext cx="8656920" cy="462420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8" name="PlaceHolder 1"/>
          <p:cNvSpPr>
            <a:spLocks noGrp="1"/>
          </p:cNvSpPr>
          <p:nvPr>
            <p:ph type="title"/>
          </p:nvPr>
        </p:nvSpPr>
        <p:spPr>
          <a:xfrm>
            <a:off x="543960" y="457920"/>
            <a:ext cx="8055720" cy="4189680"/>
          </a:xfrm>
          <a:prstGeom prst="rect">
            <a:avLst/>
          </a:prstGeom>
          <a:noFill/>
          <a:ln w="0">
            <a:noFill/>
          </a:ln>
        </p:spPr>
        <p:txBody>
          <a:bodyPr lIns="91440" tIns="91440" rIns="91440" bIns="91440" anchor="t">
            <a:noAutofit/>
          </a:bodyPr>
          <a:lstStyle/>
          <a:p>
            <a:pPr indent="0">
              <a:buNone/>
            </a:pPr>
            <a:r>
              <a:rPr lang="fr-FR" sz="5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2" name="Google Shape;14;p3"/>
          <p:cNvPicPr/>
          <p:nvPr/>
        </p:nvPicPr>
        <p:blipFill>
          <a:blip r:embed="rId3"/>
          <a:srcRect b="1534"/>
          <a:stretch/>
        </p:blipFill>
        <p:spPr>
          <a:xfrm>
            <a:off x="0" y="0"/>
            <a:ext cx="9143640" cy="5143320"/>
          </a:xfrm>
          <a:prstGeom prst="rect">
            <a:avLst/>
          </a:prstGeom>
          <a:ln w="0">
            <a:noFill/>
          </a:ln>
        </p:spPr>
      </p:pic>
      <p:sp>
        <p:nvSpPr>
          <p:cNvPr id="33" name="Google Shape;15;p3"/>
          <p:cNvSpPr/>
          <p:nvPr/>
        </p:nvSpPr>
        <p:spPr>
          <a:xfrm>
            <a:off x="243360" y="259560"/>
            <a:ext cx="8656920" cy="462420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4" name="PlaceHolder 1"/>
          <p:cNvSpPr>
            <a:spLocks noGrp="1"/>
          </p:cNvSpPr>
          <p:nvPr>
            <p:ph type="title"/>
          </p:nvPr>
        </p:nvSpPr>
        <p:spPr>
          <a:xfrm>
            <a:off x="4176000" y="1670400"/>
            <a:ext cx="4341960" cy="1781640"/>
          </a:xfrm>
          <a:prstGeom prst="rect">
            <a:avLst/>
          </a:prstGeom>
          <a:noFill/>
          <a:ln w="0">
            <a:noFill/>
          </a:ln>
        </p:spPr>
        <p:txBody>
          <a:bodyPr lIns="91440" tIns="91440" rIns="91440" bIns="91440" anchor="b">
            <a:noAutofit/>
          </a:bodyPr>
          <a:lstStyle/>
          <a:p>
            <a:pPr indent="0">
              <a:buNone/>
            </a:pPr>
            <a:r>
              <a:rPr lang="fr-FR" sz="4500" b="0" strike="noStrike" spc="-1">
                <a:solidFill>
                  <a:schemeClr val="dk1"/>
                </a:solidFill>
                <a:latin typeface="Arial"/>
              </a:rPr>
              <a:t>Click to edit the title text format</a:t>
            </a:r>
          </a:p>
        </p:txBody>
      </p:sp>
      <p:sp>
        <p:nvSpPr>
          <p:cNvPr id="35" name="PlaceHolder 2"/>
          <p:cNvSpPr>
            <a:spLocks noGrp="1"/>
          </p:cNvSpPr>
          <p:nvPr>
            <p:ph type="title"/>
          </p:nvPr>
        </p:nvSpPr>
        <p:spPr>
          <a:xfrm>
            <a:off x="464040" y="424800"/>
            <a:ext cx="859320" cy="668520"/>
          </a:xfrm>
          <a:prstGeom prst="rect">
            <a:avLst/>
          </a:prstGeom>
          <a:noFill/>
          <a:ln w="0">
            <a:noFill/>
          </a:ln>
        </p:spPr>
        <p:txBody>
          <a:bodyPr lIns="91440" tIns="91440" rIns="91440" bIns="91440" anchor="ctr">
            <a:noAutofit/>
          </a:bodyPr>
          <a:lstStyle/>
          <a:p>
            <a:pPr indent="0">
              <a:lnSpc>
                <a:spcPct val="100000"/>
              </a:lnSpc>
              <a:buNone/>
            </a:pPr>
            <a:r>
              <a:rPr lang="fr-FR" sz="4200" b="0" strike="noStrike" spc="-1">
                <a:solidFill>
                  <a:schemeClr val="dk1"/>
                </a:solidFill>
                <a:latin typeface="Funnel Display"/>
                <a:ea typeface="Funnel Display"/>
              </a:rPr>
              <a:t>xx%</a:t>
            </a:r>
            <a:endParaRPr lang="fr-FR" sz="4200" b="0" strike="noStrike" spc="-1">
              <a:solidFill>
                <a:schemeClr val="dk1"/>
              </a:solidFill>
              <a:latin typeface="Arial"/>
            </a:endParaRPr>
          </a:p>
        </p:txBody>
      </p:sp>
      <p:sp>
        <p:nvSpPr>
          <p:cNvPr id="36"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720000" y="521280"/>
            <a:ext cx="7703640" cy="572400"/>
          </a:xfrm>
          <a:prstGeom prst="rect">
            <a:avLst/>
          </a:prstGeom>
          <a:noFill/>
          <a:ln w="0">
            <a:noFill/>
          </a:ln>
        </p:spPr>
        <p:txBody>
          <a:bodyPr lIns="91440" tIns="91440" rIns="91440" bIns="91440" anchor="t">
            <a:noAutofit/>
          </a:bodyPr>
          <a:lstStyle/>
          <a:p>
            <a:pPr indent="0">
              <a:buNone/>
            </a:pPr>
            <a:r>
              <a:rPr lang="fr-FR" sz="2500" b="0" strike="noStrike" spc="-1">
                <a:solidFill>
                  <a:schemeClr val="dk1"/>
                </a:solidFill>
                <a:latin typeface="Arial"/>
              </a:rPr>
              <a:t>Click to edit the title text format</a:t>
            </a:r>
          </a:p>
        </p:txBody>
      </p:sp>
      <p:sp>
        <p:nvSpPr>
          <p:cNvPr id="38" name="PlaceHolder 2"/>
          <p:cNvSpPr>
            <a:spLocks noGrp="1"/>
          </p:cNvSpPr>
          <p:nvPr>
            <p:ph type="body"/>
          </p:nvPr>
        </p:nvSpPr>
        <p:spPr>
          <a:xfrm>
            <a:off x="720000" y="1160640"/>
            <a:ext cx="7703640" cy="4118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pic>
        <p:nvPicPr>
          <p:cNvPr id="39" name="Google Shape;22;p4"/>
          <p:cNvPicPr/>
          <p:nvPr/>
        </p:nvPicPr>
        <p:blipFill>
          <a:blip r:embed="rId3"/>
          <a:srcRect l="49530" r="49530"/>
          <a:stretch/>
        </p:blipFill>
        <p:spPr>
          <a:xfrm rot="5400000">
            <a:off x="4536720" y="591480"/>
            <a:ext cx="120960" cy="8736840"/>
          </a:xfrm>
          <a:prstGeom prst="rect">
            <a:avLst/>
          </a:prstGeom>
          <a:ln w="0">
            <a:noFill/>
          </a:ln>
        </p:spPr>
      </p:pic>
      <p:cxnSp>
        <p:nvCxnSpPr>
          <p:cNvPr id="40" name="Google Shape;23;p4"/>
          <p:cNvCxnSpPr/>
          <p:nvPr/>
        </p:nvCxnSpPr>
        <p:spPr>
          <a:xfrm>
            <a:off x="218520" y="235800"/>
            <a:ext cx="8706960" cy="360"/>
          </a:xfrm>
          <a:prstGeom prst="straightConnector1">
            <a:avLst/>
          </a:prstGeom>
          <a:ln w="9525">
            <a:solidFill>
              <a:srgbClr val="191919"/>
            </a:solidFill>
            <a:round/>
          </a:ln>
        </p:spPr>
      </p:cxn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43" name="Google Shape;27;p5"/>
          <p:cNvCxnSpPr/>
          <p:nvPr/>
        </p:nvCxnSpPr>
        <p:spPr>
          <a:xfrm>
            <a:off x="218520" y="235800"/>
            <a:ext cx="8706960" cy="360"/>
          </a:xfrm>
          <a:prstGeom prst="straightConnector1">
            <a:avLst/>
          </a:prstGeom>
          <a:ln w="9525">
            <a:solidFill>
              <a:srgbClr val="191919"/>
            </a:solidFill>
            <a:round/>
          </a:ln>
        </p:spPr>
      </p:cxn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500" b="0" strike="noStrike" spc="-1">
                <a:solidFill>
                  <a:schemeClr val="dk1"/>
                </a:solidFill>
                <a:latin typeface="Arial"/>
              </a:rPr>
              <a:t>Click to edit the title text format</a:t>
            </a:r>
          </a:p>
        </p:txBody>
      </p:sp>
      <p:cxnSp>
        <p:nvCxnSpPr>
          <p:cNvPr id="48" name="Google Shape;30;p6"/>
          <p:cNvCxnSpPr/>
          <p:nvPr/>
        </p:nvCxnSpPr>
        <p:spPr>
          <a:xfrm>
            <a:off x="218520" y="235800"/>
            <a:ext cx="8706960" cy="360"/>
          </a:xfrm>
          <a:prstGeom prst="straightConnector1">
            <a:avLst/>
          </a:prstGeom>
          <a:ln w="9525">
            <a:solidFill>
              <a:srgbClr val="191919"/>
            </a:solidFill>
            <a:round/>
          </a:ln>
        </p:spPr>
      </p:cxn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3483720" y="529200"/>
            <a:ext cx="4644000" cy="1139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51" name="PlaceHolder 2"/>
          <p:cNvSpPr>
            <a:spLocks noGrp="1"/>
          </p:cNvSpPr>
          <p:nvPr>
            <p:ph type="body"/>
          </p:nvPr>
        </p:nvSpPr>
        <p:spPr>
          <a:xfrm>
            <a:off x="228600" y="238320"/>
            <a:ext cx="3008520" cy="4676400"/>
          </a:xfrm>
          <a:prstGeom prst="rect">
            <a:avLst/>
          </a:prstGeom>
          <a:noFill/>
          <a:ln w="0">
            <a:noFill/>
          </a:ln>
        </p:spPr>
        <p:txBody>
          <a:bodyPr lIns="90000" tIns="45000" rIns="90000" bIns="45000" anchor="t">
            <a:normAutofit fontScale="62222"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557280" y="1771920"/>
            <a:ext cx="5657040" cy="1679760"/>
          </a:xfrm>
          <a:prstGeom prst="rect">
            <a:avLst/>
          </a:prstGeom>
          <a:noFill/>
          <a:ln w="0">
            <a:noFill/>
          </a:ln>
        </p:spPr>
        <p:txBody>
          <a:bodyPr lIns="91440" tIns="91440" rIns="91440" bIns="91440" anchor="t">
            <a:noAutofit/>
          </a:bodyPr>
          <a:lstStyle/>
          <a:p>
            <a:pPr indent="0">
              <a:buNone/>
            </a:pPr>
            <a:r>
              <a:rPr lang="fr-FR" sz="5000" b="0" strike="noStrike" spc="-1">
                <a:solidFill>
                  <a:schemeClr val="dk1"/>
                </a:solidFill>
                <a:latin typeface="Arial"/>
              </a:rPr>
              <a:t>Click to edit the title text format</a:t>
            </a:r>
          </a:p>
        </p:txBody>
      </p:sp>
      <p:cxnSp>
        <p:nvCxnSpPr>
          <p:cNvPr id="53" name="Google Shape;37;p8"/>
          <p:cNvCxnSpPr/>
          <p:nvPr/>
        </p:nvCxnSpPr>
        <p:spPr>
          <a:xfrm>
            <a:off x="218520" y="252360"/>
            <a:ext cx="8706960" cy="360"/>
          </a:xfrm>
          <a:prstGeom prst="straightConnector1">
            <a:avLst/>
          </a:prstGeom>
          <a:ln w="9525">
            <a:solidFill>
              <a:srgbClr val="191919"/>
            </a:solidFill>
            <a:round/>
          </a:ln>
        </p:spPr>
      </p:cxnSp>
      <p:cxnSp>
        <p:nvCxnSpPr>
          <p:cNvPr id="54" name="Google Shape;38;p8"/>
          <p:cNvCxnSpPr/>
          <p:nvPr/>
        </p:nvCxnSpPr>
        <p:spPr>
          <a:xfrm>
            <a:off x="218520" y="4890960"/>
            <a:ext cx="8706960" cy="360"/>
          </a:xfrm>
          <a:prstGeom prst="straightConnector1">
            <a:avLst/>
          </a:prstGeom>
          <a:ln w="9525">
            <a:solidFill>
              <a:srgbClr val="191919"/>
            </a:solidFill>
            <a:round/>
          </a:ln>
        </p:spPr>
      </p:cxn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3716280" y="656640"/>
            <a:ext cx="4872600" cy="1103040"/>
          </a:xfrm>
          <a:prstGeom prst="rect">
            <a:avLst/>
          </a:prstGeom>
          <a:noFill/>
          <a:ln w="0">
            <a:noFill/>
          </a:ln>
        </p:spPr>
        <p:txBody>
          <a:bodyPr lIns="91440" tIns="91440" rIns="91440" bIns="91440" anchor="ctr">
            <a:noAutofit/>
          </a:bodyPr>
          <a:lstStyle/>
          <a:p>
            <a:pPr indent="0">
              <a:buNone/>
            </a:pPr>
            <a:r>
              <a:rPr lang="fr-FR" sz="5000" b="0" strike="noStrike" spc="-1">
                <a:solidFill>
                  <a:schemeClr val="dk1"/>
                </a:solidFill>
                <a:latin typeface="Arial"/>
              </a:rPr>
              <a:t>Click to edit the title text format</a:t>
            </a:r>
          </a:p>
        </p:txBody>
      </p:sp>
      <p:sp>
        <p:nvSpPr>
          <p:cNvPr id="56" name="PlaceHolder 2"/>
          <p:cNvSpPr>
            <a:spLocks noGrp="1"/>
          </p:cNvSpPr>
          <p:nvPr>
            <p:ph type="body"/>
          </p:nvPr>
        </p:nvSpPr>
        <p:spPr>
          <a:xfrm>
            <a:off x="5657760" y="2524680"/>
            <a:ext cx="2454120" cy="1620720"/>
          </a:xfrm>
          <a:prstGeom prst="rect">
            <a:avLst/>
          </a:prstGeom>
          <a:noFill/>
          <a:ln w="0">
            <a:noFill/>
          </a:ln>
        </p:spPr>
        <p:txBody>
          <a:bodyPr lIns="90000" tIns="45000" rIns="90000" bIns="45000" anchor="t">
            <a:normAutofit fontScale="12222"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7"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58" name="PlaceHolder 2"/>
          <p:cNvSpPr>
            <a:spLocks noGrp="1"/>
          </p:cNvSpPr>
          <p:nvPr>
            <p:ph type="title"/>
          </p:nvPr>
        </p:nvSpPr>
        <p:spPr>
          <a:xfrm>
            <a:off x="4903920" y="529200"/>
            <a:ext cx="3564720" cy="411840"/>
          </a:xfrm>
          <a:prstGeom prst="rect">
            <a:avLst/>
          </a:prstGeom>
          <a:solidFill>
            <a:schemeClr val="lt1"/>
          </a:solidFill>
          <a:ln w="0">
            <a:noFill/>
          </a:ln>
        </p:spPr>
        <p:txBody>
          <a:bodyPr lIns="91440" tIns="91440" rIns="91440" bIns="91440" anchor="ctr">
            <a:noAutofit/>
          </a:bodyPr>
          <a:lstStyle/>
          <a:p>
            <a:pPr indent="0">
              <a:buNone/>
            </a:pPr>
            <a:r>
              <a:rPr lang="fr-FR" sz="18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9" name="Google Shape;88;p22"/>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0"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61" name="Google Shape;91;p23"/>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2"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
        <p:nvSpPr>
          <p:cNvPr id="63"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466560" y="828720"/>
            <a:ext cx="8115120" cy="13712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800" b="0" strike="noStrike" spc="-1" dirty="0">
                <a:solidFill>
                  <a:schemeClr val="dk1"/>
                </a:solidFill>
                <a:latin typeface="Funnel Display"/>
                <a:ea typeface="Funnel Display"/>
              </a:rPr>
              <a:t>EV Charging Session Peak Classification</a:t>
            </a:r>
            <a:endParaRPr lang="fr-FR" sz="3800" b="0" strike="noStrike" spc="-1" dirty="0">
              <a:solidFill>
                <a:schemeClr val="dk1"/>
              </a:solidFill>
              <a:latin typeface="Arial"/>
            </a:endParaRPr>
          </a:p>
        </p:txBody>
      </p:sp>
      <p:sp>
        <p:nvSpPr>
          <p:cNvPr id="65" name="PlaceHolder 2"/>
          <p:cNvSpPr>
            <a:spLocks noGrp="1"/>
          </p:cNvSpPr>
          <p:nvPr>
            <p:ph type="subTitle"/>
          </p:nvPr>
        </p:nvSpPr>
        <p:spPr>
          <a:xfrm>
            <a:off x="552600" y="3838680"/>
            <a:ext cx="8029080" cy="76176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1600" b="0" strike="noStrike" spc="-1">
                <a:solidFill>
                  <a:schemeClr val="dk1"/>
                </a:solidFill>
                <a:latin typeface="DM Sans"/>
                <a:ea typeface="DM Sans"/>
              </a:rPr>
              <a:t>Addressing Congestion and Power Grid Challenges in Electric Vehicle Adoption</a:t>
            </a:r>
            <a:endParaRPr lang="en-US" sz="1600" b="0" strike="noStrike" spc="-1">
              <a:solidFill>
                <a:srgbClr val="000000"/>
              </a:solidFill>
              <a:latin typeface="OpenSymbol"/>
            </a:endParaRPr>
          </a:p>
        </p:txBody>
      </p:sp>
      <p:cxnSp>
        <p:nvCxnSpPr>
          <p:cNvPr id="66" name="Google Shape;100;p24"/>
          <p:cNvCxnSpPr/>
          <p:nvPr/>
        </p:nvCxnSpPr>
        <p:spPr>
          <a:xfrm>
            <a:off x="556920" y="678600"/>
            <a:ext cx="8030160" cy="360"/>
          </a:xfrm>
          <a:prstGeom prst="straightConnector1">
            <a:avLst/>
          </a:prstGeom>
          <a:ln w="9525">
            <a:solidFill>
              <a:srgbClr val="191919"/>
            </a:solidFill>
            <a:round/>
          </a:ln>
        </p:spPr>
      </p:cxnSp>
      <p:sp>
        <p:nvSpPr>
          <p:cNvPr id="67" name="Google Shape;101;p24"/>
          <p:cNvSpPr/>
          <p:nvPr/>
        </p:nvSpPr>
        <p:spPr>
          <a:xfrm>
            <a:off x="8029440" y="343080"/>
            <a:ext cx="657000" cy="18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tabLst>
                <a:tab pos="0" algn="l"/>
              </a:tabLst>
            </a:pPr>
            <a:r>
              <a:rPr lang="en" sz="1200" b="0" strike="noStrike" spc="-1" dirty="0">
                <a:solidFill>
                  <a:schemeClr val="dk1"/>
                </a:solidFill>
                <a:latin typeface="Arial"/>
              </a:rPr>
              <a:t>2025</a:t>
            </a:r>
            <a:endParaRPr lang="en-US" sz="1200" b="0" strike="noStrike" spc="-1" dirty="0">
              <a:solidFill>
                <a:srgbClr val="000000"/>
              </a:solidFill>
              <a:latin typeface="OpenSymbol"/>
            </a:endParaRPr>
          </a:p>
        </p:txBody>
      </p:sp>
      <p:pic>
        <p:nvPicPr>
          <p:cNvPr id="2" name="Picture 1">
            <a:extLst>
              <a:ext uri="{FF2B5EF4-FFF2-40B4-BE49-F238E27FC236}">
                <a16:creationId xmlns:a16="http://schemas.microsoft.com/office/drawing/2014/main" id="{6AABF3D5-4DF8-7372-B979-46D2A43772E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5474" y="1828800"/>
            <a:ext cx="3789561" cy="1485900"/>
          </a:xfrm>
          <a:prstGeom prst="rect">
            <a:avLst/>
          </a:prstGeom>
          <a:noFill/>
        </p:spPr>
      </p:pic>
      <p:sp>
        <p:nvSpPr>
          <p:cNvPr id="3" name="TextBox 2">
            <a:extLst>
              <a:ext uri="{FF2B5EF4-FFF2-40B4-BE49-F238E27FC236}">
                <a16:creationId xmlns:a16="http://schemas.microsoft.com/office/drawing/2014/main" id="{9C69D3E6-BCF1-5252-5237-7124C816BBA8}"/>
              </a:ext>
            </a:extLst>
          </p:cNvPr>
          <p:cNvSpPr txBox="1"/>
          <p:nvPr/>
        </p:nvSpPr>
        <p:spPr>
          <a:xfrm>
            <a:off x="5122069" y="1778794"/>
            <a:ext cx="3307556" cy="1200329"/>
          </a:xfrm>
          <a:prstGeom prst="rect">
            <a:avLst/>
          </a:prstGeom>
          <a:noFill/>
        </p:spPr>
        <p:txBody>
          <a:bodyPr wrap="square" rtlCol="0">
            <a:spAutoFit/>
          </a:bodyPr>
          <a:lstStyle/>
          <a:p>
            <a:r>
              <a:rPr lang="en-IN" dirty="0"/>
              <a:t>Name : Penaganti Sai</a:t>
            </a:r>
          </a:p>
          <a:p>
            <a:r>
              <a:rPr lang="en-IN" dirty="0"/>
              <a:t>Section : K22UP</a:t>
            </a:r>
          </a:p>
          <a:p>
            <a:r>
              <a:rPr lang="en-IN"/>
              <a:t>Roll no : 30</a:t>
            </a:r>
            <a:br>
              <a:rPr lang="en-IN"/>
            </a:br>
            <a:r>
              <a:rPr lang="en-IN"/>
              <a:t>Reg no : 12219418</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71680" y="523800"/>
            <a:ext cx="8000640" cy="5713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500" b="0" strike="noStrike" spc="-1">
                <a:solidFill>
                  <a:schemeClr val="dk1"/>
                </a:solidFill>
                <a:latin typeface="Funnel Display"/>
                <a:ea typeface="Funnel Display"/>
              </a:rPr>
              <a:t>Introduction</a:t>
            </a:r>
            <a:endParaRPr lang="fr-FR" sz="2500" b="0" strike="noStrike" spc="-1">
              <a:solidFill>
                <a:schemeClr val="dk1"/>
              </a:solidFill>
              <a:latin typeface="Arial"/>
            </a:endParaRPr>
          </a:p>
        </p:txBody>
      </p:sp>
      <p:sp>
        <p:nvSpPr>
          <p:cNvPr id="69" name="PlaceHolder 2"/>
          <p:cNvSpPr>
            <a:spLocks noGrp="1"/>
          </p:cNvSpPr>
          <p:nvPr>
            <p:ph type="subTitle"/>
          </p:nvPr>
        </p:nvSpPr>
        <p:spPr>
          <a:xfrm>
            <a:off x="792956" y="1276200"/>
            <a:ext cx="7627084" cy="2773260"/>
          </a:xfrm>
          <a:prstGeom prst="rect">
            <a:avLst/>
          </a:prstGeom>
          <a:noFill/>
          <a:ln w="0">
            <a:noFill/>
          </a:ln>
        </p:spPr>
        <p:txBody>
          <a:bodyPr lIns="91440" tIns="91440" rIns="91440" bIns="91440" anchor="t">
            <a:normAutofit/>
          </a:bodyPr>
          <a:lstStyle/>
          <a:p>
            <a:pPr>
              <a:buNone/>
            </a:pPr>
            <a:r>
              <a:rPr lang="en-US" sz="1000" dirty="0"/>
              <a:t>The rapid adoption of electric vehicles represents a critical transition in our transportation ecosystem, with global EV sales growing at an unprecedented rate. While this shift promises significant environmental benefits and reduced dependency on fossil fuels, it brings forth new challenges:</a:t>
            </a:r>
          </a:p>
          <a:p>
            <a:pPr>
              <a:buFont typeface="Arial" panose="020B0604020202020204" pitchFamily="34" charset="0"/>
              <a:buChar char="•"/>
            </a:pPr>
            <a:r>
              <a:rPr lang="en-US" sz="1000" dirty="0"/>
              <a:t>The exponential growth of the EV market is outpacing the development of sufficient charging infrastructure</a:t>
            </a:r>
          </a:p>
          <a:p>
            <a:pPr>
              <a:buFont typeface="Arial" panose="020B0604020202020204" pitchFamily="34" charset="0"/>
              <a:buChar char="•"/>
            </a:pPr>
            <a:r>
              <a:rPr lang="en-US" sz="1000" dirty="0"/>
              <a:t>Charging stations in urban centers and along major highways increasingly face congestion during peak travel times</a:t>
            </a:r>
          </a:p>
          <a:p>
            <a:pPr>
              <a:buFont typeface="Arial" panose="020B0604020202020204" pitchFamily="34" charset="0"/>
              <a:buChar char="•"/>
            </a:pPr>
            <a:r>
              <a:rPr lang="en-US" sz="1000" dirty="0"/>
              <a:t>Local power grids are experiencing strain as multiple high-power charging sessions coincide</a:t>
            </a:r>
          </a:p>
          <a:p>
            <a:pPr>
              <a:buFont typeface="Arial" panose="020B0604020202020204" pitchFamily="34" charset="0"/>
              <a:buChar char="•"/>
            </a:pPr>
            <a:r>
              <a:rPr lang="en-US" sz="1000" dirty="0"/>
              <a:t>The unpredictable nature of charging demand creates inefficiencies for both users and utility providers</a:t>
            </a:r>
          </a:p>
        </p:txBody>
      </p:sp>
      <p:cxnSp>
        <p:nvCxnSpPr>
          <p:cNvPr id="70" name="Google Shape;166;p32"/>
          <p:cNvCxnSpPr/>
          <p:nvPr/>
        </p:nvCxnSpPr>
        <p:spPr>
          <a:xfrm>
            <a:off x="668160" y="1094040"/>
            <a:ext cx="7904520" cy="360"/>
          </a:xfrm>
          <a:prstGeom prst="straightConnector1">
            <a:avLst/>
          </a:prstGeom>
          <a:ln w="9525">
            <a:solidFill>
              <a:srgbClr val="191919"/>
            </a:solidFill>
            <a:roun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504720" y="3162240"/>
            <a:ext cx="4381200" cy="15235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4500" b="0" strike="noStrike" spc="-1">
                <a:solidFill>
                  <a:schemeClr val="dk1"/>
                </a:solidFill>
                <a:latin typeface="Funnel Display"/>
                <a:ea typeface="Funnel Display"/>
              </a:rPr>
              <a:t>Challenges</a:t>
            </a:r>
            <a:endParaRPr lang="fr-FR" sz="4500" b="0" strike="noStrike" spc="-1">
              <a:solidFill>
                <a:schemeClr val="dk1"/>
              </a:solidFill>
              <a:latin typeface="Arial"/>
            </a:endParaRPr>
          </a:p>
        </p:txBody>
      </p:sp>
      <p:sp>
        <p:nvSpPr>
          <p:cNvPr id="72" name="PlaceHolder 2"/>
          <p:cNvSpPr>
            <a:spLocks noGrp="1"/>
          </p:cNvSpPr>
          <p:nvPr>
            <p:ph type="title"/>
          </p:nvPr>
        </p:nvSpPr>
        <p:spPr>
          <a:xfrm>
            <a:off x="438120" y="457200"/>
            <a:ext cx="1333080" cy="67608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4200" b="0" strike="noStrike" spc="-1">
                <a:solidFill>
                  <a:schemeClr val="dk1"/>
                </a:solidFill>
                <a:latin typeface="Funnel Display"/>
                <a:ea typeface="Funnel Display"/>
              </a:rPr>
              <a:t>01</a:t>
            </a:r>
            <a:endParaRPr lang="fr-FR" sz="4200" b="0" strike="noStrike" spc="-1">
              <a:solidFill>
                <a:schemeClr val="dk1"/>
              </a:solidFill>
              <a:latin typeface="Arial"/>
            </a:endParaRPr>
          </a:p>
        </p:txBody>
      </p:sp>
      <p:pic>
        <p:nvPicPr>
          <p:cNvPr id="73" name="Google Shape;158;p31"/>
          <p:cNvPicPr/>
          <p:nvPr/>
        </p:nvPicPr>
        <p:blipFill>
          <a:blip r:embed="rId2"/>
          <a:srcRect l="8958" r="6077" b="853"/>
          <a:stretch/>
        </p:blipFill>
        <p:spPr>
          <a:xfrm>
            <a:off x="6213960" y="151920"/>
            <a:ext cx="2760120" cy="483948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571680" y="523800"/>
            <a:ext cx="8000640" cy="5713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500" b="0" strike="noStrike" spc="-1">
                <a:solidFill>
                  <a:schemeClr val="dk1"/>
                </a:solidFill>
                <a:latin typeface="Funnel Display"/>
                <a:ea typeface="Funnel Display"/>
              </a:rPr>
              <a:t>EV Charging Congestion</a:t>
            </a:r>
            <a:endParaRPr lang="fr-FR" sz="2500" b="0" strike="noStrike" spc="-1">
              <a:solidFill>
                <a:schemeClr val="dk1"/>
              </a:solidFill>
              <a:latin typeface="Arial"/>
            </a:endParaRPr>
          </a:p>
        </p:txBody>
      </p:sp>
      <p:sp>
        <p:nvSpPr>
          <p:cNvPr id="76" name="PlaceHolder 2"/>
          <p:cNvSpPr>
            <a:spLocks noGrp="1"/>
          </p:cNvSpPr>
          <p:nvPr>
            <p:ph type="subTitle"/>
          </p:nvPr>
        </p:nvSpPr>
        <p:spPr>
          <a:xfrm>
            <a:off x="945507" y="1333350"/>
            <a:ext cx="5581440" cy="3419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dirty="0">
                <a:solidFill>
                  <a:schemeClr val="dk1"/>
                </a:solidFill>
                <a:latin typeface="DM Sans"/>
                <a:ea typeface="DM Sans"/>
              </a:rPr>
              <a:t>The rapid increase in electric vehicle usage has led to significant congestion at charging stations. This congestion results in longer wait times for EV users, which can discourage potential adopters. Addressing this issue requires innovative strategies to manage charging times and location effectively.</a:t>
            </a:r>
          </a:p>
          <a:p>
            <a:pPr>
              <a:buNone/>
            </a:pPr>
            <a:r>
              <a:rPr lang="en-US" sz="1000" b="1" dirty="0"/>
              <a:t>Impact of Charging Congestion</a:t>
            </a:r>
          </a:p>
          <a:p>
            <a:pPr>
              <a:buFont typeface="Arial" panose="020B0604020202020204" pitchFamily="34" charset="0"/>
              <a:buChar char="•"/>
            </a:pPr>
            <a:r>
              <a:rPr lang="en-US" sz="1000" dirty="0"/>
              <a:t>Peak-hour bottlenecks at popular stations can result in wait times exceeding 30-45 minutes</a:t>
            </a:r>
          </a:p>
          <a:p>
            <a:pPr>
              <a:buFont typeface="Arial" panose="020B0604020202020204" pitchFamily="34" charset="0"/>
              <a:buChar char="•"/>
            </a:pPr>
            <a:r>
              <a:rPr lang="en-US" sz="1000" dirty="0"/>
              <a:t>EV drivers report developing "charging anxiety" - fear of not finding available chargers when needed</a:t>
            </a:r>
          </a:p>
          <a:p>
            <a:pPr>
              <a:buFont typeface="Arial" panose="020B0604020202020204" pitchFamily="34" charset="0"/>
              <a:buChar char="•"/>
            </a:pPr>
            <a:r>
              <a:rPr lang="en-US" sz="1000" dirty="0"/>
              <a:t>Workplace charging facilities face particular pressure during morning arrival times</a:t>
            </a:r>
          </a:p>
          <a:p>
            <a:pPr>
              <a:buFont typeface="Arial" panose="020B0604020202020204" pitchFamily="34" charset="0"/>
              <a:buChar char="•"/>
            </a:pPr>
            <a:r>
              <a:rPr lang="en-US" sz="1000" dirty="0"/>
              <a:t>Popular travel corridors experience severe congestion during holiday and weekend peak periods</a:t>
            </a:r>
          </a:p>
          <a:p>
            <a:pPr>
              <a:buFont typeface="Arial" panose="020B0604020202020204" pitchFamily="34" charset="0"/>
              <a:buChar char="•"/>
            </a:pPr>
            <a:r>
              <a:rPr lang="en-US" sz="1000" dirty="0"/>
              <a:t>Fast-charging infrastructure is disproportionately affected due to higher demand and shorter session times</a:t>
            </a:r>
          </a:p>
          <a:p>
            <a:pPr indent="0">
              <a:lnSpc>
                <a:spcPct val="100000"/>
              </a:lnSpc>
              <a:buNone/>
              <a:tabLst>
                <a:tab pos="0" algn="l"/>
              </a:tabLst>
            </a:pPr>
            <a:endParaRPr lang="en-US" sz="1200" b="0" strike="noStrike" spc="-1" dirty="0">
              <a:solidFill>
                <a:srgbClr val="000000"/>
              </a:solidFill>
              <a:latin typeface="OpenSymbol"/>
            </a:endParaRPr>
          </a:p>
        </p:txBody>
      </p:sp>
      <p:cxnSp>
        <p:nvCxnSpPr>
          <p:cNvPr id="77" name="Google Shape;166;p32"/>
          <p:cNvCxnSpPr/>
          <p:nvPr/>
        </p:nvCxnSpPr>
        <p:spPr>
          <a:xfrm>
            <a:off x="668160" y="1094040"/>
            <a:ext cx="7904520" cy="360"/>
          </a:xfrm>
          <a:prstGeom prst="straightConnector1">
            <a:avLst/>
          </a:prstGeom>
          <a:ln w="9525">
            <a:solidFill>
              <a:srgbClr val="191919"/>
            </a:solidFill>
            <a:roun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3486240" y="237960"/>
            <a:ext cx="4647960" cy="11426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500" b="0" strike="noStrike" spc="-1">
                <a:solidFill>
                  <a:schemeClr val="dk1"/>
                </a:solidFill>
                <a:latin typeface="Funnel Display"/>
                <a:ea typeface="Funnel Display"/>
              </a:rPr>
              <a:t>Grid Strain during Peak Hours</a:t>
            </a:r>
            <a:endParaRPr lang="fr-FR" sz="2500" b="0" strike="noStrike" spc="-1">
              <a:solidFill>
                <a:schemeClr val="dk1"/>
              </a:solidFill>
              <a:latin typeface="Arial"/>
            </a:endParaRPr>
          </a:p>
        </p:txBody>
      </p:sp>
      <p:pic>
        <p:nvPicPr>
          <p:cNvPr id="79" name="Google Shape;126;p27"/>
          <p:cNvPicPr/>
          <p:nvPr/>
        </p:nvPicPr>
        <p:blipFill>
          <a:blip r:embed="rId2"/>
          <a:srcRect t="6437" b="6437"/>
          <a:stretch/>
        </p:blipFill>
        <p:spPr>
          <a:xfrm>
            <a:off x="228600" y="233280"/>
            <a:ext cx="3008520" cy="4676400"/>
          </a:xfrm>
          <a:prstGeom prst="rect">
            <a:avLst/>
          </a:prstGeom>
          <a:ln w="0">
            <a:noFill/>
          </a:ln>
        </p:spPr>
      </p:pic>
      <p:sp>
        <p:nvSpPr>
          <p:cNvPr id="80" name="PlaceHolder 2"/>
          <p:cNvSpPr>
            <a:spLocks noGrp="1"/>
          </p:cNvSpPr>
          <p:nvPr>
            <p:ph type="subTitle"/>
          </p:nvPr>
        </p:nvSpPr>
        <p:spPr>
          <a:xfrm>
            <a:off x="3486240" y="1714680"/>
            <a:ext cx="4647960" cy="2847600"/>
          </a:xfrm>
          <a:prstGeom prst="rect">
            <a:avLst/>
          </a:prstGeom>
          <a:noFill/>
          <a:ln w="0">
            <a:noFill/>
          </a:ln>
        </p:spPr>
        <p:txBody>
          <a:bodyPr lIns="91440" tIns="91440" rIns="91440" bIns="91440" anchor="t">
            <a:normAutofit/>
          </a:bodyPr>
          <a:lstStyle/>
          <a:p>
            <a:pPr>
              <a:lnSpc>
                <a:spcPct val="100000"/>
              </a:lnSpc>
              <a:tabLst>
                <a:tab pos="0" algn="l"/>
              </a:tabLst>
            </a:pPr>
            <a:r>
              <a:rPr lang="en" sz="1200" b="0" strike="noStrike" spc="-1" dirty="0">
                <a:solidFill>
                  <a:schemeClr val="dk1"/>
                </a:solidFill>
                <a:latin typeface="DM Sans"/>
                <a:ea typeface="DM Sans"/>
              </a:rPr>
              <a:t>High demand for electricity during peak hours creates strain on the power grid, resulting in increased electricity costs and potential outages. Power grid operators must find ways to balance demand with supply, particularly as more electric vehicles are charged simultaneously during these peak times</a:t>
            </a:r>
          </a:p>
          <a:p>
            <a:pPr>
              <a:buNone/>
            </a:pPr>
            <a:r>
              <a:rPr lang="en-US" sz="1000" b="1" dirty="0"/>
              <a:t>Infrastructure Vulnerability</a:t>
            </a:r>
          </a:p>
          <a:p>
            <a:pPr>
              <a:buFont typeface="Arial" panose="020B0604020202020204" pitchFamily="34" charset="0"/>
              <a:buChar char="•"/>
            </a:pPr>
            <a:r>
              <a:rPr lang="en-US" sz="1000" dirty="0"/>
              <a:t>Existing grid infrastructure in many regions was not designed to accommodate the concentrated power demands of multiple high-capacity EV chargers (50-350 kW) operating simultaneously</a:t>
            </a:r>
          </a:p>
          <a:p>
            <a:pPr>
              <a:buFont typeface="Arial" panose="020B0604020202020204" pitchFamily="34" charset="0"/>
              <a:buChar char="•"/>
            </a:pPr>
            <a:r>
              <a:rPr lang="en-US" sz="1000" dirty="0"/>
              <a:t>Transformers and local distribution equipment can experience accelerated aging and failure when repeatedly exposed to demand spikes from EV fast charging</a:t>
            </a:r>
          </a:p>
          <a:p>
            <a:pPr>
              <a:lnSpc>
                <a:spcPct val="100000"/>
              </a:lnSpc>
              <a:tabLst>
                <a:tab pos="0" algn="l"/>
              </a:tabLst>
            </a:pPr>
            <a:endParaRPr lang="en-US" sz="1200" b="0" strike="noStrike" spc="-1" dirty="0">
              <a:solidFill>
                <a:srgbClr val="000000"/>
              </a:solidFill>
              <a:latin typeface="OpenSymbol"/>
            </a:endParaRPr>
          </a:p>
        </p:txBody>
      </p:sp>
      <p:cxnSp>
        <p:nvCxnSpPr>
          <p:cNvPr id="81" name="Google Shape;128;p27"/>
          <p:cNvCxnSpPr/>
          <p:nvPr/>
        </p:nvCxnSpPr>
        <p:spPr>
          <a:xfrm>
            <a:off x="3483360" y="4914720"/>
            <a:ext cx="2441160" cy="360"/>
          </a:xfrm>
          <a:prstGeom prst="straightConnector1">
            <a:avLst/>
          </a:prstGeom>
          <a:ln w="9525">
            <a:solidFill>
              <a:srgbClr val="191919"/>
            </a:solidFill>
            <a:roun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71680" y="523800"/>
            <a:ext cx="8000640" cy="5713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500" b="0" strike="noStrike" spc="-1">
                <a:solidFill>
                  <a:schemeClr val="dk1"/>
                </a:solidFill>
                <a:latin typeface="Funnel Display"/>
                <a:ea typeface="Funnel Display"/>
              </a:rPr>
              <a:t>Inefficient Energy Distribution</a:t>
            </a:r>
            <a:endParaRPr lang="fr-FR" sz="2500" b="0" strike="noStrike" spc="-1">
              <a:solidFill>
                <a:schemeClr val="dk1"/>
              </a:solidFill>
              <a:latin typeface="Arial"/>
            </a:endParaRPr>
          </a:p>
        </p:txBody>
      </p:sp>
      <p:sp>
        <p:nvSpPr>
          <p:cNvPr id="83" name="PlaceHolder 2"/>
          <p:cNvSpPr>
            <a:spLocks noGrp="1"/>
          </p:cNvSpPr>
          <p:nvPr>
            <p:ph type="subTitle"/>
          </p:nvPr>
        </p:nvSpPr>
        <p:spPr>
          <a:xfrm>
            <a:off x="1109813" y="1419075"/>
            <a:ext cx="5581440" cy="3419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dirty="0">
                <a:solidFill>
                  <a:schemeClr val="dk1"/>
                </a:solidFill>
                <a:latin typeface="DM Sans"/>
                <a:ea typeface="DM Sans"/>
              </a:rPr>
              <a:t>Inefficient distribution of energy exacerbates the challenges faced by power grid operators. When demand surges, the existing infrastructure may struggle to allocate resources effectively, resulting in energy waste, increased costs, and a greater environmental impact. Implementing more efficient distribution strategies is crucial to align supply with the growing demand from electric vehicles.</a:t>
            </a:r>
          </a:p>
          <a:p>
            <a:pPr>
              <a:buNone/>
            </a:pPr>
            <a:r>
              <a:rPr lang="en-US" sz="1000" b="1" dirty="0"/>
              <a:t>System-Wide Inefficiencies</a:t>
            </a:r>
          </a:p>
          <a:p>
            <a:pPr>
              <a:buFont typeface="Arial" panose="020B0604020202020204" pitchFamily="34" charset="0"/>
              <a:buChar char="•"/>
            </a:pPr>
            <a:r>
              <a:rPr lang="en-US" sz="1000" dirty="0"/>
              <a:t>Voltage fluctuations from uncoordinated charging can increase line losses and reduce overall grid efficiency</a:t>
            </a:r>
          </a:p>
          <a:p>
            <a:pPr>
              <a:buFont typeface="Arial" panose="020B0604020202020204" pitchFamily="34" charset="0"/>
              <a:buChar char="•"/>
            </a:pPr>
            <a:r>
              <a:rPr lang="en-US" sz="1000" dirty="0"/>
              <a:t>Power quality issues including harmonic distortion from multiple chargers can affect sensitive equipment and increase maintenance requirements</a:t>
            </a:r>
          </a:p>
          <a:p>
            <a:pPr indent="0">
              <a:lnSpc>
                <a:spcPct val="100000"/>
              </a:lnSpc>
              <a:buNone/>
              <a:tabLst>
                <a:tab pos="0" algn="l"/>
              </a:tabLst>
            </a:pPr>
            <a:endParaRPr lang="en-US" sz="1200" b="0" strike="noStrike" spc="-1" dirty="0">
              <a:solidFill>
                <a:srgbClr val="000000"/>
              </a:solidFill>
              <a:latin typeface="OpenSymbol"/>
            </a:endParaRPr>
          </a:p>
        </p:txBody>
      </p:sp>
      <p:cxnSp>
        <p:nvCxnSpPr>
          <p:cNvPr id="84" name="Google Shape;166;p32"/>
          <p:cNvCxnSpPr/>
          <p:nvPr/>
        </p:nvCxnSpPr>
        <p:spPr>
          <a:xfrm>
            <a:off x="668160" y="1094040"/>
            <a:ext cx="7904520" cy="360"/>
          </a:xfrm>
          <a:prstGeom prst="straightConnector1">
            <a:avLst/>
          </a:prstGeom>
          <a:ln w="9525">
            <a:solidFill>
              <a:srgbClr val="191919"/>
            </a:solidFill>
            <a:roun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4172040" y="1666800"/>
            <a:ext cx="4343040" cy="178092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4500" b="0" strike="noStrike" spc="-1" dirty="0">
                <a:solidFill>
                  <a:schemeClr val="dk1"/>
                </a:solidFill>
                <a:latin typeface="Funnel Display"/>
                <a:ea typeface="Funnel Display"/>
              </a:rPr>
              <a:t>Machine Learning Model</a:t>
            </a:r>
            <a:endParaRPr lang="fr-FR" sz="4500" b="0" strike="noStrike" spc="-1" dirty="0">
              <a:solidFill>
                <a:schemeClr val="dk1"/>
              </a:solidFill>
              <a:latin typeface="Arial"/>
            </a:endParaRPr>
          </a:p>
        </p:txBody>
      </p:sp>
      <p:sp>
        <p:nvSpPr>
          <p:cNvPr id="86" name="PlaceHolder 2"/>
          <p:cNvSpPr>
            <a:spLocks noGrp="1"/>
          </p:cNvSpPr>
          <p:nvPr>
            <p:ph type="title"/>
          </p:nvPr>
        </p:nvSpPr>
        <p:spPr>
          <a:xfrm>
            <a:off x="466560" y="428760"/>
            <a:ext cx="856800" cy="66636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4200" b="0" strike="noStrike" spc="-1">
                <a:solidFill>
                  <a:schemeClr val="dk1"/>
                </a:solidFill>
                <a:latin typeface="Funnel Display"/>
                <a:ea typeface="Funnel Display"/>
              </a:rPr>
              <a:t>02</a:t>
            </a:r>
            <a:endParaRPr lang="fr-FR" sz="4200" b="0" strike="noStrike" spc="-1">
              <a:solidFill>
                <a:schemeClr val="dk1"/>
              </a:solidFill>
              <a:latin typeface="Arial"/>
            </a:endParaRPr>
          </a:p>
        </p:txBody>
      </p:sp>
      <p:cxnSp>
        <p:nvCxnSpPr>
          <p:cNvPr id="88" name="Google Shape;136;p28"/>
          <p:cNvCxnSpPr/>
          <p:nvPr/>
        </p:nvCxnSpPr>
        <p:spPr>
          <a:xfrm>
            <a:off x="1217520" y="928440"/>
            <a:ext cx="7292160" cy="360"/>
          </a:xfrm>
          <a:prstGeom prst="straightConnector1">
            <a:avLst/>
          </a:prstGeom>
          <a:ln w="9525">
            <a:solidFill>
              <a:srgbClr val="191919"/>
            </a:solidFill>
            <a:roun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3486240" y="237960"/>
            <a:ext cx="4647960" cy="11426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500" b="0" strike="noStrike" spc="-1">
                <a:solidFill>
                  <a:schemeClr val="dk1"/>
                </a:solidFill>
                <a:latin typeface="Funnel Display"/>
                <a:ea typeface="Funnel Display"/>
              </a:rPr>
              <a:t>Data Collection and Analysis</a:t>
            </a:r>
            <a:endParaRPr lang="fr-FR" sz="2500" b="0" strike="noStrike" spc="-1">
              <a:solidFill>
                <a:schemeClr val="dk1"/>
              </a:solidFill>
              <a:latin typeface="Arial"/>
            </a:endParaRPr>
          </a:p>
        </p:txBody>
      </p:sp>
      <p:pic>
        <p:nvPicPr>
          <p:cNvPr id="90" name="Google Shape;126;p27"/>
          <p:cNvPicPr/>
          <p:nvPr/>
        </p:nvPicPr>
        <p:blipFill>
          <a:blip r:embed="rId2"/>
          <a:srcRect t="6437" b="6437"/>
          <a:stretch/>
        </p:blipFill>
        <p:spPr>
          <a:xfrm>
            <a:off x="228600" y="233280"/>
            <a:ext cx="3008520" cy="4676400"/>
          </a:xfrm>
          <a:prstGeom prst="rect">
            <a:avLst/>
          </a:prstGeom>
          <a:ln w="0">
            <a:noFill/>
          </a:ln>
        </p:spPr>
      </p:pic>
      <p:sp>
        <p:nvSpPr>
          <p:cNvPr id="91" name="PlaceHolder 2"/>
          <p:cNvSpPr>
            <a:spLocks noGrp="1"/>
          </p:cNvSpPr>
          <p:nvPr>
            <p:ph type="subTitle"/>
          </p:nvPr>
        </p:nvSpPr>
        <p:spPr>
          <a:xfrm>
            <a:off x="3486240" y="1714680"/>
            <a:ext cx="4647960" cy="2847600"/>
          </a:xfrm>
          <a:prstGeom prst="rect">
            <a:avLst/>
          </a:prstGeom>
          <a:noFill/>
          <a:ln w="0">
            <a:noFill/>
          </a:ln>
        </p:spPr>
        <p:txBody>
          <a:bodyPr lIns="91440" tIns="91440" rIns="91440" bIns="91440" anchor="t">
            <a:normAutofit/>
          </a:bodyPr>
          <a:lstStyle/>
          <a:p>
            <a:pPr>
              <a:lnSpc>
                <a:spcPct val="100000"/>
              </a:lnSpc>
              <a:tabLst>
                <a:tab pos="0" algn="l"/>
              </a:tabLst>
            </a:pPr>
            <a:r>
              <a:rPr lang="en" sz="1200" b="0" strike="noStrike" spc="-1">
                <a:solidFill>
                  <a:schemeClr val="dk1"/>
                </a:solidFill>
                <a:latin typeface="DM Sans"/>
                <a:ea typeface="DM Sans"/>
              </a:rPr>
              <a:t>To develop a robust machine learning model, comprehensive data collection and analysis are essential. Historical charging data, including timestamps, locations, and energy usage patterns, will be gathered to understand user behavior. This data will be analyzed to identify trends and factors influencing peak demand, providing a solid foundation for the predictive model.</a:t>
            </a:r>
            <a:endParaRPr lang="en-US" sz="1200" b="0" strike="noStrike" spc="-1">
              <a:solidFill>
                <a:srgbClr val="000000"/>
              </a:solidFill>
              <a:latin typeface="OpenSymbol"/>
            </a:endParaRPr>
          </a:p>
        </p:txBody>
      </p:sp>
      <p:cxnSp>
        <p:nvCxnSpPr>
          <p:cNvPr id="92" name="Google Shape;128;p27"/>
          <p:cNvCxnSpPr/>
          <p:nvPr/>
        </p:nvCxnSpPr>
        <p:spPr>
          <a:xfrm>
            <a:off x="3483360" y="4914720"/>
            <a:ext cx="2441160" cy="360"/>
          </a:xfrm>
          <a:prstGeom prst="straightConnector1">
            <a:avLst/>
          </a:prstGeom>
          <a:ln w="9525">
            <a:solidFill>
              <a:srgbClr val="191919"/>
            </a:solidFill>
            <a:roun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571680" y="523800"/>
            <a:ext cx="8000640" cy="5713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500" b="0" strike="noStrike" spc="-1">
                <a:solidFill>
                  <a:schemeClr val="dk1"/>
                </a:solidFill>
                <a:latin typeface="Funnel Display"/>
                <a:ea typeface="Funnel Display"/>
              </a:rPr>
              <a:t>Peak vs Off-Peak Classification</a:t>
            </a:r>
            <a:endParaRPr lang="fr-FR" sz="2500" b="0" strike="noStrike" spc="-1">
              <a:solidFill>
                <a:schemeClr val="dk1"/>
              </a:solidFill>
              <a:latin typeface="Arial"/>
            </a:endParaRPr>
          </a:p>
        </p:txBody>
      </p:sp>
      <p:sp>
        <p:nvSpPr>
          <p:cNvPr id="94" name="PlaceHolder 2"/>
          <p:cNvSpPr>
            <a:spLocks noGrp="1"/>
          </p:cNvSpPr>
          <p:nvPr>
            <p:ph type="subTitle"/>
          </p:nvPr>
        </p:nvSpPr>
        <p:spPr>
          <a:xfrm>
            <a:off x="1517005" y="1804837"/>
            <a:ext cx="5581440" cy="3419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dirty="0">
                <a:solidFill>
                  <a:schemeClr val="dk1"/>
                </a:solidFill>
                <a:latin typeface="DM Sans"/>
                <a:ea typeface="DM Sans"/>
              </a:rPr>
              <a:t>The core functionality of the machine learning model involves classifying EV charging sessions into peak or off-peak categories. Using algorithms trained on historical data, the model will analyze real-time charging patterns to predict demand accurately. This classification will help charging station providers optimize their operations and implement dynamic pricing strategies.</a:t>
            </a:r>
          </a:p>
          <a:p>
            <a:pPr indent="0">
              <a:lnSpc>
                <a:spcPct val="100000"/>
              </a:lnSpc>
              <a:buNone/>
              <a:tabLst>
                <a:tab pos="0" algn="l"/>
              </a:tabLst>
            </a:pPr>
            <a:endParaRPr lang="en-US" sz="1200" b="0" strike="noStrike" spc="-1" dirty="0">
              <a:solidFill>
                <a:srgbClr val="000000"/>
              </a:solidFill>
              <a:latin typeface="OpenSymbol"/>
            </a:endParaRPr>
          </a:p>
        </p:txBody>
      </p:sp>
      <p:cxnSp>
        <p:nvCxnSpPr>
          <p:cNvPr id="95" name="Google Shape;166;p32"/>
          <p:cNvCxnSpPr/>
          <p:nvPr/>
        </p:nvCxnSpPr>
        <p:spPr>
          <a:xfrm>
            <a:off x="668160" y="1094040"/>
            <a:ext cx="7904520" cy="360"/>
          </a:xfrm>
          <a:prstGeom prst="straightConnector1">
            <a:avLst/>
          </a:prstGeom>
          <a:ln w="9525">
            <a:solidFill>
              <a:srgbClr val="191919"/>
            </a:solidFill>
            <a:roun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D29E4-0223-6737-C8C9-74C3DC028EB1}"/>
            </a:ext>
          </a:extLst>
        </p:cNvPr>
        <p:cNvGrpSpPr/>
        <p:nvPr/>
      </p:nvGrpSpPr>
      <p:grpSpPr>
        <a:xfrm>
          <a:off x="0" y="0"/>
          <a:ext cx="0" cy="0"/>
          <a:chOff x="0" y="0"/>
          <a:chExt cx="0" cy="0"/>
        </a:xfrm>
      </p:grpSpPr>
      <p:sp>
        <p:nvSpPr>
          <p:cNvPr id="93" name="PlaceHolder 1">
            <a:extLst>
              <a:ext uri="{FF2B5EF4-FFF2-40B4-BE49-F238E27FC236}">
                <a16:creationId xmlns:a16="http://schemas.microsoft.com/office/drawing/2014/main" id="{53C7FEAE-503C-8EC9-6961-47B7123B9F7F}"/>
              </a:ext>
            </a:extLst>
          </p:cNvPr>
          <p:cNvSpPr>
            <a:spLocks noGrp="1"/>
          </p:cNvSpPr>
          <p:nvPr>
            <p:ph type="title"/>
          </p:nvPr>
        </p:nvSpPr>
        <p:spPr>
          <a:xfrm>
            <a:off x="571680" y="523800"/>
            <a:ext cx="8000640" cy="5713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500" spc="-1" dirty="0">
                <a:solidFill>
                  <a:schemeClr val="dk1"/>
                </a:solidFill>
                <a:latin typeface="Funnel Display"/>
              </a:rPr>
              <a:t>Random Forest Classifier</a:t>
            </a:r>
            <a:endParaRPr lang="fr-FR" sz="2500" b="0" strike="noStrike" spc="-1" dirty="0">
              <a:solidFill>
                <a:schemeClr val="dk1"/>
              </a:solidFill>
              <a:latin typeface="Arial"/>
            </a:endParaRPr>
          </a:p>
        </p:txBody>
      </p:sp>
      <p:sp>
        <p:nvSpPr>
          <p:cNvPr id="94" name="PlaceHolder 2">
            <a:extLst>
              <a:ext uri="{FF2B5EF4-FFF2-40B4-BE49-F238E27FC236}">
                <a16:creationId xmlns:a16="http://schemas.microsoft.com/office/drawing/2014/main" id="{1CF133D8-96F2-922D-E196-DF6EB3CB5DDE}"/>
              </a:ext>
            </a:extLst>
          </p:cNvPr>
          <p:cNvSpPr>
            <a:spLocks noGrp="1"/>
          </p:cNvSpPr>
          <p:nvPr>
            <p:ph type="subTitle"/>
          </p:nvPr>
        </p:nvSpPr>
        <p:spPr>
          <a:xfrm>
            <a:off x="1488430" y="1440506"/>
            <a:ext cx="5581440" cy="3419280"/>
          </a:xfrm>
          <a:prstGeom prst="rect">
            <a:avLst/>
          </a:prstGeom>
          <a:noFill/>
          <a:ln w="0">
            <a:noFill/>
          </a:ln>
        </p:spPr>
        <p:txBody>
          <a:bodyPr lIns="91440" tIns="91440" rIns="91440" bIns="91440" anchor="t">
            <a:normAutofit/>
          </a:bodyPr>
          <a:lstStyle/>
          <a:p>
            <a:pPr algn="just">
              <a:buNone/>
            </a:pPr>
            <a:r>
              <a:rPr lang="en-US" sz="1200" dirty="0"/>
              <a:t> I selected the </a:t>
            </a:r>
            <a:r>
              <a:rPr lang="en-US" sz="1200" b="1" dirty="0"/>
              <a:t>Random Forest Classifier</a:t>
            </a:r>
            <a:r>
              <a:rPr lang="en-US" sz="1200" dirty="0"/>
              <a:t> as my primary model for classifying EV charging sessions into </a:t>
            </a:r>
            <a:r>
              <a:rPr lang="en-US" sz="1200" b="1" dirty="0"/>
              <a:t>peak</a:t>
            </a:r>
            <a:r>
              <a:rPr lang="en-US" sz="1200" dirty="0"/>
              <a:t> and </a:t>
            </a:r>
            <a:r>
              <a:rPr lang="en-US" sz="1200" b="1" dirty="0"/>
              <a:t>off-peak</a:t>
            </a:r>
            <a:r>
              <a:rPr lang="en-US" sz="1200" dirty="0"/>
              <a:t> periods. This decision was driven by several key strengths of the Random Forest algorithm:</a:t>
            </a:r>
          </a:p>
          <a:p>
            <a:pPr algn="just">
              <a:buFont typeface="+mj-lt"/>
              <a:buAutoNum type="arabicPeriod"/>
            </a:pPr>
            <a:r>
              <a:rPr lang="en-US" sz="1200" b="1" dirty="0"/>
              <a:t>High Accuracy with Minimal Tuning</a:t>
            </a:r>
            <a:r>
              <a:rPr lang="en-US" sz="1200" dirty="0"/>
              <a:t>:</a:t>
            </a:r>
            <a:br>
              <a:rPr lang="en-US" sz="1200" dirty="0"/>
            </a:br>
            <a:r>
              <a:rPr lang="en-US" sz="1200" dirty="0"/>
              <a:t>Random Forest is known for delivering strong predictive performance right out of the box. It aggregates predictions from multiple decision trees, reducing the risk of overfitting while maintaining high accuracy, making it ideal for our classification task.</a:t>
            </a:r>
          </a:p>
          <a:p>
            <a:pPr algn="just">
              <a:buFont typeface="+mj-lt"/>
              <a:buAutoNum type="arabicPeriod"/>
            </a:pPr>
            <a:r>
              <a:rPr lang="en-US" sz="1200" b="1" dirty="0"/>
              <a:t>Handles Both Numerical and Categorical Data</a:t>
            </a:r>
            <a:r>
              <a:rPr lang="en-US" sz="1200" dirty="0"/>
              <a:t>:</a:t>
            </a:r>
            <a:br>
              <a:rPr lang="en-US" sz="1200" dirty="0"/>
            </a:br>
            <a:r>
              <a:rPr lang="en-US" sz="1200" dirty="0"/>
              <a:t>My dataset includes a mix of feature types (e.g., charging rate, vehicle model, start time). Random Forest handles these without requiring intensive preprocessing or one-hot encoding of categorical variables.</a:t>
            </a:r>
          </a:p>
          <a:p>
            <a:pPr indent="0" algn="just">
              <a:lnSpc>
                <a:spcPct val="100000"/>
              </a:lnSpc>
              <a:buNone/>
              <a:tabLst>
                <a:tab pos="0" algn="l"/>
              </a:tabLst>
            </a:pPr>
            <a:endParaRPr lang="en-US" sz="1200" spc="-1" dirty="0">
              <a:solidFill>
                <a:srgbClr val="000000"/>
              </a:solidFill>
              <a:latin typeface="OpenSymbol"/>
            </a:endParaRPr>
          </a:p>
          <a:p>
            <a:pPr indent="0">
              <a:lnSpc>
                <a:spcPct val="100000"/>
              </a:lnSpc>
              <a:buNone/>
              <a:tabLst>
                <a:tab pos="0" algn="l"/>
              </a:tabLst>
            </a:pPr>
            <a:endParaRPr lang="en-US" sz="1200" b="0" strike="noStrike" spc="-1" dirty="0">
              <a:solidFill>
                <a:srgbClr val="000000"/>
              </a:solidFill>
              <a:latin typeface="OpenSymbol"/>
            </a:endParaRPr>
          </a:p>
        </p:txBody>
      </p:sp>
      <p:cxnSp>
        <p:nvCxnSpPr>
          <p:cNvPr id="95" name="Google Shape;166;p32">
            <a:extLst>
              <a:ext uri="{FF2B5EF4-FFF2-40B4-BE49-F238E27FC236}">
                <a16:creationId xmlns:a16="http://schemas.microsoft.com/office/drawing/2014/main" id="{B7651723-A9AE-315F-9A16-9CAA3980D422}"/>
              </a:ext>
            </a:extLst>
          </p:cNvPr>
          <p:cNvCxnSpPr/>
          <p:nvPr/>
        </p:nvCxnSpPr>
        <p:spPr>
          <a:xfrm>
            <a:off x="668160" y="1094040"/>
            <a:ext cx="7904520" cy="360"/>
          </a:xfrm>
          <a:prstGeom prst="straightConnector1">
            <a:avLst/>
          </a:prstGeom>
          <a:ln w="9525">
            <a:solidFill>
              <a:srgbClr val="191919"/>
            </a:solidFill>
            <a:round/>
          </a:ln>
        </p:spPr>
      </p:cxnSp>
    </p:spTree>
    <p:extLst>
      <p:ext uri="{BB962C8B-B14F-4D97-AF65-F5344CB8AC3E}">
        <p14:creationId xmlns:p14="http://schemas.microsoft.com/office/powerpoint/2010/main" val="2477036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8999-E3D4-9047-3302-E0D2E926165C}"/>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1BCA0892-3D4B-5362-A312-FF5982A15075}"/>
              </a:ext>
            </a:extLst>
          </p:cNvPr>
          <p:cNvSpPr>
            <a:spLocks noGrp="1"/>
          </p:cNvSpPr>
          <p:nvPr>
            <p:ph type="title"/>
          </p:nvPr>
        </p:nvSpPr>
        <p:spPr>
          <a:xfrm>
            <a:off x="571680" y="523800"/>
            <a:ext cx="8000640" cy="5713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500" spc="-1" dirty="0">
                <a:solidFill>
                  <a:schemeClr val="dk1"/>
                </a:solidFill>
                <a:latin typeface="Funnel Display"/>
              </a:rPr>
              <a:t>RESULTS</a:t>
            </a:r>
            <a:endParaRPr lang="fr-FR" sz="2500" b="0" strike="noStrike" spc="-1" dirty="0">
              <a:solidFill>
                <a:schemeClr val="dk1"/>
              </a:solidFill>
              <a:latin typeface="Arial"/>
            </a:endParaRPr>
          </a:p>
        </p:txBody>
      </p:sp>
      <p:cxnSp>
        <p:nvCxnSpPr>
          <p:cNvPr id="98" name="Google Shape;166;p32">
            <a:extLst>
              <a:ext uri="{FF2B5EF4-FFF2-40B4-BE49-F238E27FC236}">
                <a16:creationId xmlns:a16="http://schemas.microsoft.com/office/drawing/2014/main" id="{54C7F6B2-EB88-98AA-664A-8BB4ED7ABDB3}"/>
              </a:ext>
            </a:extLst>
          </p:cNvPr>
          <p:cNvCxnSpPr/>
          <p:nvPr/>
        </p:nvCxnSpPr>
        <p:spPr>
          <a:xfrm>
            <a:off x="668160" y="1094040"/>
            <a:ext cx="7904520" cy="360"/>
          </a:xfrm>
          <a:prstGeom prst="straightConnector1">
            <a:avLst/>
          </a:prstGeom>
          <a:ln w="9525">
            <a:solidFill>
              <a:srgbClr val="191919"/>
            </a:solidFill>
            <a:round/>
          </a:ln>
        </p:spPr>
      </p:cxnSp>
      <p:pic>
        <p:nvPicPr>
          <p:cNvPr id="3" name="Picture 2">
            <a:extLst>
              <a:ext uri="{FF2B5EF4-FFF2-40B4-BE49-F238E27FC236}">
                <a16:creationId xmlns:a16="http://schemas.microsoft.com/office/drawing/2014/main" id="{2A365241-5ECD-517E-C4E5-52AB8B423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680" y="1183846"/>
            <a:ext cx="3539391" cy="1795098"/>
          </a:xfrm>
          <a:prstGeom prst="rect">
            <a:avLst/>
          </a:prstGeom>
        </p:spPr>
      </p:pic>
      <p:pic>
        <p:nvPicPr>
          <p:cNvPr id="5" name="Picture 4">
            <a:extLst>
              <a:ext uri="{FF2B5EF4-FFF2-40B4-BE49-F238E27FC236}">
                <a16:creationId xmlns:a16="http://schemas.microsoft.com/office/drawing/2014/main" id="{BF2E1D20-1BFD-7A6E-D7BC-C3A5D0307D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1090" y="1183846"/>
            <a:ext cx="2803922" cy="2366598"/>
          </a:xfrm>
          <a:prstGeom prst="rect">
            <a:avLst/>
          </a:prstGeom>
        </p:spPr>
      </p:pic>
    </p:spTree>
    <p:extLst>
      <p:ext uri="{BB962C8B-B14F-4D97-AF65-F5344CB8AC3E}">
        <p14:creationId xmlns:p14="http://schemas.microsoft.com/office/powerpoint/2010/main" val="2569244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739B5-9D55-E5AD-F281-87347702BD7D}"/>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89DFC697-8957-EB4F-C5B4-CA18E2318CE7}"/>
              </a:ext>
            </a:extLst>
          </p:cNvPr>
          <p:cNvSpPr>
            <a:spLocks noGrp="1"/>
          </p:cNvSpPr>
          <p:nvPr>
            <p:ph type="title"/>
          </p:nvPr>
        </p:nvSpPr>
        <p:spPr>
          <a:xfrm>
            <a:off x="571680" y="523800"/>
            <a:ext cx="8000640" cy="5713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500" spc="-1" dirty="0">
                <a:solidFill>
                  <a:schemeClr val="dk1"/>
                </a:solidFill>
                <a:latin typeface="Funnel Display"/>
              </a:rPr>
              <a:t>RESULTS</a:t>
            </a:r>
            <a:endParaRPr lang="fr-FR" sz="2500" b="0" strike="noStrike" spc="-1" dirty="0">
              <a:solidFill>
                <a:schemeClr val="dk1"/>
              </a:solidFill>
              <a:latin typeface="Arial"/>
            </a:endParaRPr>
          </a:p>
        </p:txBody>
      </p:sp>
      <p:cxnSp>
        <p:nvCxnSpPr>
          <p:cNvPr id="98" name="Google Shape;166;p32">
            <a:extLst>
              <a:ext uri="{FF2B5EF4-FFF2-40B4-BE49-F238E27FC236}">
                <a16:creationId xmlns:a16="http://schemas.microsoft.com/office/drawing/2014/main" id="{683E820F-2BBD-CFF3-5FDF-5DE2951F7AF5}"/>
              </a:ext>
            </a:extLst>
          </p:cNvPr>
          <p:cNvCxnSpPr/>
          <p:nvPr/>
        </p:nvCxnSpPr>
        <p:spPr>
          <a:xfrm>
            <a:off x="668160" y="1094040"/>
            <a:ext cx="7904520" cy="360"/>
          </a:xfrm>
          <a:prstGeom prst="straightConnector1">
            <a:avLst/>
          </a:prstGeom>
          <a:ln w="9525">
            <a:solidFill>
              <a:srgbClr val="191919"/>
            </a:solidFill>
            <a:round/>
          </a:ln>
        </p:spPr>
      </p:cxnSp>
      <p:pic>
        <p:nvPicPr>
          <p:cNvPr id="4" name="Picture 3">
            <a:extLst>
              <a:ext uri="{FF2B5EF4-FFF2-40B4-BE49-F238E27FC236}">
                <a16:creationId xmlns:a16="http://schemas.microsoft.com/office/drawing/2014/main" id="{EC9A4089-551C-CDD2-562C-2346574FC4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8160" y="1193006"/>
            <a:ext cx="3615571" cy="2350293"/>
          </a:xfrm>
          <a:prstGeom prst="rect">
            <a:avLst/>
          </a:prstGeom>
        </p:spPr>
      </p:pic>
      <p:pic>
        <p:nvPicPr>
          <p:cNvPr id="9" name="Picture 8">
            <a:extLst>
              <a:ext uri="{FF2B5EF4-FFF2-40B4-BE49-F238E27FC236}">
                <a16:creationId xmlns:a16="http://schemas.microsoft.com/office/drawing/2014/main" id="{7BCE5299-B048-DE43-A397-17DFB062D7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1999" y="1402266"/>
            <a:ext cx="4001957" cy="2211752"/>
          </a:xfrm>
          <a:prstGeom prst="rect">
            <a:avLst/>
          </a:prstGeom>
        </p:spPr>
      </p:pic>
    </p:spTree>
    <p:extLst>
      <p:ext uri="{BB962C8B-B14F-4D97-AF65-F5344CB8AC3E}">
        <p14:creationId xmlns:p14="http://schemas.microsoft.com/office/powerpoint/2010/main" val="2429911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571680" y="523800"/>
            <a:ext cx="8000640" cy="5713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500" b="0" strike="noStrike" spc="-1">
                <a:solidFill>
                  <a:schemeClr val="dk1"/>
                </a:solidFill>
                <a:latin typeface="Funnel Display"/>
                <a:ea typeface="Funnel Display"/>
              </a:rPr>
              <a:t>Conclusion</a:t>
            </a:r>
            <a:endParaRPr lang="fr-FR" sz="2500" b="0" strike="noStrike" spc="-1">
              <a:solidFill>
                <a:schemeClr val="dk1"/>
              </a:solidFill>
              <a:latin typeface="Arial"/>
            </a:endParaRPr>
          </a:p>
        </p:txBody>
      </p:sp>
      <p:sp>
        <p:nvSpPr>
          <p:cNvPr id="100" name="PlaceHolder 2"/>
          <p:cNvSpPr>
            <a:spLocks noGrp="1"/>
          </p:cNvSpPr>
          <p:nvPr>
            <p:ph type="subTitle"/>
          </p:nvPr>
        </p:nvSpPr>
        <p:spPr>
          <a:xfrm>
            <a:off x="1524150" y="1664640"/>
            <a:ext cx="5581440" cy="3419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dirty="0">
                <a:solidFill>
                  <a:schemeClr val="dk1"/>
                </a:solidFill>
                <a:latin typeface="DM Sans"/>
                <a:ea typeface="DM Sans"/>
              </a:rPr>
              <a:t>As electric vehicle adoption continues to rise, addressing the challenges of charging station congestion and power grid strain is imperative. By leveraging machine learning to predict demand accurately, stakeholders can implement more efficient energy distribution strategies, optimize charging infrastructure, and enhance the overall user experience. This proactive approach not only benefits individual users but also supports a sustainable energy future.</a:t>
            </a:r>
            <a:endParaRPr lang="en-US" sz="1200" b="0" strike="noStrike" spc="-1" dirty="0">
              <a:solidFill>
                <a:srgbClr val="000000"/>
              </a:solidFill>
              <a:latin typeface="OpenSymbol"/>
            </a:endParaRPr>
          </a:p>
        </p:txBody>
      </p:sp>
      <p:cxnSp>
        <p:nvCxnSpPr>
          <p:cNvPr id="101" name="Google Shape;166;p32"/>
          <p:cNvCxnSpPr/>
          <p:nvPr/>
        </p:nvCxnSpPr>
        <p:spPr>
          <a:xfrm>
            <a:off x="668160" y="1094040"/>
            <a:ext cx="7904520" cy="360"/>
          </a:xfrm>
          <a:prstGeom prst="straightConnector1">
            <a:avLst/>
          </a:prstGeom>
          <a:ln w="9525">
            <a:solidFill>
              <a:srgbClr val="191919"/>
            </a:solidFill>
            <a:round/>
          </a:ln>
        </p:spPr>
      </p:cxnSp>
    </p:spTree>
  </p:cSld>
  <p:clrMapOvr>
    <a:masterClrMapping/>
  </p:clrMapOvr>
</p:sld>
</file>

<file path=ppt/theme/theme1.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Minimalist for Business by Slidesgo">
  <a:themeElements>
    <a:clrScheme name="Simple Light">
      <a:dk1>
        <a:srgbClr val="191919"/>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TotalTime>
  <Words>781</Words>
  <Application>Microsoft Office PowerPoint</Application>
  <PresentationFormat>On-screen Show (16:9)</PresentationFormat>
  <Paragraphs>46</Paragraphs>
  <Slides>13</Slides>
  <Notes>0</Notes>
  <HiddenSlides>0</HiddenSlides>
  <MMClips>0</MMClips>
  <ScaleCrop>false</ScaleCrop>
  <HeadingPairs>
    <vt:vector size="6" baseType="variant">
      <vt:variant>
        <vt:lpstr>Fonts Used</vt:lpstr>
      </vt:variant>
      <vt:variant>
        <vt:i4>6</vt:i4>
      </vt:variant>
      <vt:variant>
        <vt:lpstr>Theme</vt:lpstr>
      </vt:variant>
      <vt:variant>
        <vt:i4>20</vt:i4>
      </vt:variant>
      <vt:variant>
        <vt:lpstr>Slide Titles</vt:lpstr>
      </vt:variant>
      <vt:variant>
        <vt:i4>13</vt:i4>
      </vt:variant>
    </vt:vector>
  </HeadingPairs>
  <TitlesOfParts>
    <vt:vector size="39" baseType="lpstr">
      <vt:lpstr>Arial</vt:lpstr>
      <vt:lpstr>DM Sans</vt:lpstr>
      <vt:lpstr>Funnel Display</vt:lpstr>
      <vt:lpstr>OpenSymbol</vt:lpstr>
      <vt:lpstr>Symbol</vt:lpstr>
      <vt:lpstr>Wingdings</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Minimalist for Business by Slidesgo</vt:lpstr>
      <vt:lpstr>Slidesgo Final Pages</vt:lpstr>
      <vt:lpstr>Slidesgo Final Pages</vt:lpstr>
      <vt:lpstr>Slidesgo Final Pages</vt:lpstr>
      <vt:lpstr>EV Charging Session Peak Classification</vt:lpstr>
      <vt:lpstr>Introduction</vt:lpstr>
      <vt:lpstr>Challenges</vt:lpstr>
      <vt:lpstr>EV Charging Congestion</vt:lpstr>
      <vt:lpstr>Grid Strain during Peak Hours</vt:lpstr>
      <vt:lpstr>Inefficient Energy Distribution</vt:lpstr>
      <vt:lpstr>Machine Learning Model</vt:lpstr>
      <vt:lpstr>Data Collection and Analysis</vt:lpstr>
      <vt:lpstr>Peak vs Off-Peak Classification</vt:lpstr>
      <vt:lpstr>Random Forest Classifier</vt:lpstr>
      <vt:lpstr>RESULTS</vt:lpstr>
      <vt:lpstr>RESULTS</vt:lpstr>
      <vt:lpstr>Conclusion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penaganti</cp:lastModifiedBy>
  <cp:revision>5</cp:revision>
  <dcterms:modified xsi:type="dcterms:W3CDTF">2025-05-08T04:18:29Z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2025-05-02T09:24:00Z</dcterms:created>
  <dc:creator>Unknown Creator</dc:creator>
  <dc:description/>
  <dc:language>en-US</dc:language>
  <cp:lastModifiedBy>Unknown Creator</cp:lastModifiedBy>
  <dcterms:modified xsi:type="dcterms:W3CDTF">2025-05-02T09:24:00Z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